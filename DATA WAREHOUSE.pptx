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67" r:id="rId5"/>
    <p:sldId id="259" r:id="rId6"/>
    <p:sldId id="260" r:id="rId7"/>
    <p:sldId id="261" r:id="rId8"/>
    <p:sldId id="262" r:id="rId9"/>
    <p:sldId id="263" r:id="rId10"/>
    <p:sldId id="264" r:id="rId11"/>
    <p:sldId id="265" r:id="rId12"/>
    <p:sldId id="266"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82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3ADF6A5-865A-47E9-B054-B2AB23C4B446}" type="datetimeFigureOut">
              <a:rPr lang="en-US" smtClean="0"/>
              <a:pPr/>
              <a:t>3/13/2020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2D5246-A1C4-4498-9A81-D9D475320292}"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ADF6A5-865A-47E9-B054-B2AB23C4B446}" type="datetimeFigureOut">
              <a:rPr lang="en-US" smtClean="0"/>
              <a:pPr/>
              <a:t>3/13/2020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2D5246-A1C4-4498-9A81-D9D47532029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3ADF6A5-865A-47E9-B054-B2AB23C4B446}" type="datetimeFigureOut">
              <a:rPr lang="en-US" smtClean="0"/>
              <a:pPr/>
              <a:t>3/13/2020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2D5246-A1C4-4498-9A81-D9D475320292}"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3ADF6A5-865A-47E9-B054-B2AB23C4B446}" type="datetimeFigureOut">
              <a:rPr lang="en-US" smtClean="0"/>
              <a:pPr/>
              <a:t>3/13/2020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2D5246-A1C4-4498-9A81-D9D47532029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3ADF6A5-865A-47E9-B054-B2AB23C4B446}" type="datetimeFigureOut">
              <a:rPr lang="en-US" smtClean="0"/>
              <a:pPr/>
              <a:t>3/13/2020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52D5246-A1C4-4498-9A81-D9D47532029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3ADF6A5-865A-47E9-B054-B2AB23C4B446}" type="datetimeFigureOut">
              <a:rPr lang="en-US" smtClean="0"/>
              <a:pPr/>
              <a:t>3/13/2020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52D5246-A1C4-4498-9A81-D9D47532029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ADF6A5-865A-47E9-B054-B2AB23C4B446}" type="datetimeFigureOut">
              <a:rPr lang="en-US" smtClean="0"/>
              <a:pPr/>
              <a:t>3/13/2020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52D5246-A1C4-4498-9A81-D9D47532029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3ADF6A5-865A-47E9-B054-B2AB23C4B446}" type="datetimeFigureOut">
              <a:rPr lang="en-US" smtClean="0"/>
              <a:pPr/>
              <a:t>3/13/2020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2D5246-A1C4-4498-9A81-D9D47532029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3ADF6A5-865A-47E9-B054-B2AB23C4B446}" type="datetimeFigureOut">
              <a:rPr lang="en-US" smtClean="0"/>
              <a:pPr/>
              <a:t>3/13/2020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2D5246-A1C4-4498-9A81-D9D475320292}"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ADF6A5-865A-47E9-B054-B2AB23C4B446}" type="datetimeFigureOut">
              <a:rPr lang="en-US" smtClean="0"/>
              <a:pPr/>
              <a:t>3/13/2020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2D5246-A1C4-4498-9A81-D9D47532029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ADF6A5-865A-47E9-B054-B2AB23C4B446}" type="datetimeFigureOut">
              <a:rPr lang="en-US" smtClean="0"/>
              <a:pPr/>
              <a:t>3/13/2020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2D5246-A1C4-4498-9A81-D9D47532029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ADF6A5-865A-47E9-B054-B2AB23C4B446}" type="datetimeFigureOut">
              <a:rPr lang="en-US" smtClean="0"/>
              <a:pPr/>
              <a:t>3/13/2020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2D5246-A1C4-4498-9A81-D9D47532029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guru99.com/data-warehouse-architecture.html"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000" r="-7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7200" b="1" dirty="0" smtClean="0">
                <a:solidFill>
                  <a:schemeClr val="bg1"/>
                </a:solidFill>
              </a:rPr>
              <a:t>DATA WAREHOUSE</a:t>
            </a:r>
            <a:endParaRPr lang="en-US" sz="7200" b="1" dirty="0">
              <a:solidFill>
                <a:schemeClr val="bg1"/>
              </a:solidFill>
            </a:endParaRPr>
          </a:p>
        </p:txBody>
      </p:sp>
      <p:sp>
        <p:nvSpPr>
          <p:cNvPr id="3" name="Subtitle 2"/>
          <p:cNvSpPr>
            <a:spLocks noGrp="1"/>
          </p:cNvSpPr>
          <p:nvPr>
            <p:ph type="subTitle" idx="1"/>
          </p:nvPr>
        </p:nvSpPr>
        <p:spPr>
          <a:xfrm>
            <a:off x="928662" y="3929066"/>
            <a:ext cx="7572428" cy="2614634"/>
          </a:xfrm>
        </p:spPr>
        <p:txBody>
          <a:bodyPr>
            <a:noAutofit/>
          </a:bodyPr>
          <a:lstStyle/>
          <a:p>
            <a:r>
              <a:rPr lang="en-US" sz="3600" dirty="0" smtClean="0">
                <a:solidFill>
                  <a:srgbClr val="FFC000"/>
                </a:solidFill>
              </a:rPr>
              <a:t>Submitted To:- Mrs. </a:t>
            </a:r>
            <a:r>
              <a:rPr lang="en-US" sz="3600" dirty="0" err="1" smtClean="0">
                <a:solidFill>
                  <a:srgbClr val="FFC000"/>
                </a:solidFill>
              </a:rPr>
              <a:t>Apurva</a:t>
            </a:r>
            <a:r>
              <a:rPr lang="en-US" sz="3600" dirty="0" smtClean="0">
                <a:solidFill>
                  <a:srgbClr val="FFC000"/>
                </a:solidFill>
              </a:rPr>
              <a:t> Omer</a:t>
            </a:r>
          </a:p>
          <a:p>
            <a:r>
              <a:rPr lang="en-US" sz="3600" dirty="0" smtClean="0">
                <a:solidFill>
                  <a:srgbClr val="FFC000"/>
                </a:solidFill>
              </a:rPr>
              <a:t>Lecturer</a:t>
            </a:r>
          </a:p>
          <a:p>
            <a:r>
              <a:rPr lang="en-US" sz="3600" dirty="0" smtClean="0">
                <a:solidFill>
                  <a:srgbClr val="FFC000"/>
                </a:solidFill>
              </a:rPr>
              <a:t>Dept. Of Computer Science</a:t>
            </a:r>
            <a:endParaRPr lang="en-US" sz="3600" dirty="0">
              <a:solidFill>
                <a:srgbClr val="FFC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85852" y="928670"/>
            <a:ext cx="5357850" cy="5632311"/>
          </a:xfrm>
          <a:prstGeom prst="rect">
            <a:avLst/>
          </a:prstGeom>
          <a:noFill/>
        </p:spPr>
        <p:txBody>
          <a:bodyPr wrap="square" rtlCol="0">
            <a:spAutoFit/>
          </a:bodyPr>
          <a:lstStyle/>
          <a:p>
            <a:pPr>
              <a:buFont typeface="Arial" pitchFamily="34" charset="0"/>
              <a:buChar char="•"/>
            </a:pPr>
            <a:r>
              <a:rPr lang="en-US" sz="3600" b="1" dirty="0">
                <a:hlinkClick r:id="rId2"/>
              </a:rPr>
              <a:t>What is Data warehouse?</a:t>
            </a:r>
            <a:endParaRPr lang="en-US" sz="3600" b="1" dirty="0"/>
          </a:p>
          <a:p>
            <a:pPr>
              <a:buFont typeface="Arial" pitchFamily="34" charset="0"/>
              <a:buChar char="•"/>
            </a:pPr>
            <a:r>
              <a:rPr lang="en-US" sz="3600" b="1" dirty="0">
                <a:hlinkClick r:id="rId2"/>
              </a:rPr>
              <a:t>Characteristics of Data warehouse</a:t>
            </a:r>
            <a:endParaRPr lang="en-US" sz="3600" b="1" dirty="0"/>
          </a:p>
          <a:p>
            <a:pPr>
              <a:buFont typeface="Arial" pitchFamily="34" charset="0"/>
              <a:buChar char="•"/>
            </a:pPr>
            <a:r>
              <a:rPr lang="en-US" sz="3600" b="1" dirty="0">
                <a:hlinkClick r:id="rId2"/>
              </a:rPr>
              <a:t>Subject-Oriented</a:t>
            </a:r>
            <a:endParaRPr lang="en-US" sz="3600" b="1" dirty="0"/>
          </a:p>
          <a:p>
            <a:pPr>
              <a:buFont typeface="Arial" pitchFamily="34" charset="0"/>
              <a:buChar char="•"/>
            </a:pPr>
            <a:r>
              <a:rPr lang="en-US" sz="3600" b="1" dirty="0">
                <a:hlinkClick r:id="rId2"/>
              </a:rPr>
              <a:t>Integrated</a:t>
            </a:r>
            <a:endParaRPr lang="en-US" sz="3600" b="1" dirty="0"/>
          </a:p>
          <a:p>
            <a:pPr>
              <a:buFont typeface="Arial" pitchFamily="34" charset="0"/>
              <a:buChar char="•"/>
            </a:pPr>
            <a:r>
              <a:rPr lang="en-US" sz="3600" b="1" dirty="0">
                <a:hlinkClick r:id="rId2"/>
              </a:rPr>
              <a:t>Time-Variant</a:t>
            </a:r>
            <a:endParaRPr lang="en-US" sz="3600" b="1" dirty="0"/>
          </a:p>
          <a:p>
            <a:pPr>
              <a:buFont typeface="Arial" pitchFamily="34" charset="0"/>
              <a:buChar char="•"/>
            </a:pPr>
            <a:r>
              <a:rPr lang="en-US" sz="3600" b="1" dirty="0">
                <a:hlinkClick r:id="rId2"/>
              </a:rPr>
              <a:t>Non-volatile</a:t>
            </a:r>
            <a:endParaRPr lang="en-US" sz="3600" b="1" dirty="0"/>
          </a:p>
          <a:p>
            <a:pPr>
              <a:buFont typeface="Arial" pitchFamily="34" charset="0"/>
              <a:buChar char="•"/>
            </a:pPr>
            <a:r>
              <a:rPr lang="en-US" sz="3600" b="1" dirty="0">
                <a:hlinkClick r:id="rId2"/>
              </a:rPr>
              <a:t>Data Warehouse Architectures</a:t>
            </a:r>
            <a:endParaRPr lang="en-US" sz="3600" b="1" dirty="0"/>
          </a:p>
          <a:p>
            <a:pPr>
              <a:buFont typeface="Arial" pitchFamily="34" charset="0"/>
              <a:buChar char="•"/>
            </a:pPr>
            <a:endParaRPr lang="en-US" sz="36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85786" y="1500174"/>
            <a:ext cx="7572428" cy="3970318"/>
          </a:xfrm>
          <a:prstGeom prst="rect">
            <a:avLst/>
          </a:prstGeom>
          <a:noFill/>
        </p:spPr>
        <p:txBody>
          <a:bodyPr wrap="square" rtlCol="0">
            <a:spAutoFit/>
          </a:bodyPr>
          <a:lstStyle/>
          <a:p>
            <a:pPr>
              <a:lnSpc>
                <a:spcPct val="150000"/>
              </a:lnSpc>
              <a:buFont typeface="Wingdings" pitchFamily="2" charset="2"/>
              <a:buChar char="ü"/>
            </a:pPr>
            <a:r>
              <a:rPr lang="en-US" sz="2400" dirty="0" smtClean="0"/>
              <a:t>A data Warehouse is a relational database that is designed for query and analysis.</a:t>
            </a:r>
          </a:p>
          <a:p>
            <a:pPr>
              <a:lnSpc>
                <a:spcPct val="150000"/>
              </a:lnSpc>
              <a:buFont typeface="Wingdings" pitchFamily="2" charset="2"/>
              <a:buChar char="ü"/>
            </a:pPr>
            <a:r>
              <a:rPr lang="en-US" sz="2400" dirty="0" smtClean="0"/>
              <a:t>Data </a:t>
            </a:r>
            <a:r>
              <a:rPr lang="en-US" sz="2400" dirty="0"/>
              <a:t>warehouse is an information system that contains historical and commutative data from single or multiple sources</a:t>
            </a:r>
            <a:r>
              <a:rPr lang="en-US" sz="2400" dirty="0" smtClean="0"/>
              <a:t>.</a:t>
            </a:r>
          </a:p>
          <a:p>
            <a:pPr>
              <a:lnSpc>
                <a:spcPct val="150000"/>
              </a:lnSpc>
              <a:buFont typeface="Wingdings" pitchFamily="2" charset="2"/>
              <a:buChar char="ü"/>
            </a:pPr>
            <a:r>
              <a:rPr lang="en-US" sz="2400" dirty="0"/>
              <a:t>It is also a single version of truth for any company for decision making and forecasting</a:t>
            </a:r>
            <a:r>
              <a:rPr lang="en-US" sz="2400" dirty="0" smtClean="0"/>
              <a:t>.</a:t>
            </a:r>
          </a:p>
        </p:txBody>
      </p:sp>
      <p:sp>
        <p:nvSpPr>
          <p:cNvPr id="4" name="TextBox 3"/>
          <p:cNvSpPr txBox="1"/>
          <p:nvPr/>
        </p:nvSpPr>
        <p:spPr>
          <a:xfrm>
            <a:off x="714348" y="714356"/>
            <a:ext cx="7715304" cy="707886"/>
          </a:xfrm>
          <a:prstGeom prst="rect">
            <a:avLst/>
          </a:prstGeom>
          <a:noFill/>
        </p:spPr>
        <p:txBody>
          <a:bodyPr wrap="square" rtlCol="0">
            <a:spAutoFit/>
          </a:bodyPr>
          <a:lstStyle/>
          <a:p>
            <a:pPr algn="ctr"/>
            <a:r>
              <a:rPr lang="en-US" sz="4000" b="1" dirty="0" smtClean="0"/>
              <a:t>DATA WAREHOUSE</a:t>
            </a:r>
            <a:endParaRPr lang="en-US" sz="40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643174" y="1500174"/>
            <a:ext cx="4045782" cy="4049308"/>
            <a:chOff x="2308905" y="990600"/>
            <a:chExt cx="4633453" cy="4637492"/>
          </a:xfrm>
        </p:grpSpPr>
        <p:grpSp>
          <p:nvGrpSpPr>
            <p:cNvPr id="3" name="Group 2"/>
            <p:cNvGrpSpPr/>
            <p:nvPr/>
          </p:nvGrpSpPr>
          <p:grpSpPr>
            <a:xfrm>
              <a:off x="2308905" y="990600"/>
              <a:ext cx="4633453" cy="4633451"/>
              <a:chOff x="2252833" y="1267124"/>
              <a:chExt cx="4633453" cy="4633451"/>
            </a:xfrm>
            <a:scene3d>
              <a:camera prst="perspectiveRelaxed" fov="4800000">
                <a:rot lat="20706000" lon="20220000" rev="882000"/>
              </a:camera>
              <a:lightRig rig="threePt" dir="t">
                <a:rot lat="0" lon="0" rev="15000000"/>
              </a:lightRig>
            </a:scene3d>
          </p:grpSpPr>
          <p:sp>
            <p:nvSpPr>
              <p:cNvPr id="8" name="Oval 2"/>
              <p:cNvSpPr/>
              <p:nvPr/>
            </p:nvSpPr>
            <p:spPr>
              <a:xfrm>
                <a:off x="4625634" y="1267124"/>
                <a:ext cx="2260652" cy="2260642"/>
              </a:xfrm>
              <a:custGeom>
                <a:avLst/>
                <a:gdLst/>
                <a:ahLst/>
                <a:cxnLst/>
                <a:rect l="l" t="t" r="r" b="b"/>
                <a:pathLst>
                  <a:path w="2260652" h="2260642">
                    <a:moveTo>
                      <a:pt x="0" y="0"/>
                    </a:moveTo>
                    <a:cubicBezTo>
                      <a:pt x="1243371" y="11781"/>
                      <a:pt x="2248869" y="1017272"/>
                      <a:pt x="2260652" y="2260642"/>
                    </a:cubicBezTo>
                    <a:lnTo>
                      <a:pt x="1498836" y="2260642"/>
                    </a:lnTo>
                    <a:cubicBezTo>
                      <a:pt x="1494318" y="1915818"/>
                      <a:pt x="1374410" y="1598825"/>
                      <a:pt x="1174825" y="1347204"/>
                    </a:cubicBezTo>
                    <a:cubicBezTo>
                      <a:pt x="1133996" y="1332086"/>
                      <a:pt x="1106383" y="1333065"/>
                      <a:pt x="1062361" y="1367914"/>
                    </a:cubicBezTo>
                    <a:lnTo>
                      <a:pt x="1049179" y="1379324"/>
                    </a:lnTo>
                    <a:cubicBezTo>
                      <a:pt x="1015475" y="1411131"/>
                      <a:pt x="997501" y="1449916"/>
                      <a:pt x="999506" y="1493727"/>
                    </a:cubicBezTo>
                    <a:cubicBezTo>
                      <a:pt x="1005229" y="1562783"/>
                      <a:pt x="981246" y="1633697"/>
                      <a:pt x="928317" y="1686626"/>
                    </a:cubicBezTo>
                    <a:cubicBezTo>
                      <a:pt x="831532" y="1783410"/>
                      <a:pt x="674613" y="1783411"/>
                      <a:pt x="577828" y="1686626"/>
                    </a:cubicBezTo>
                    <a:cubicBezTo>
                      <a:pt x="481044" y="1589842"/>
                      <a:pt x="481044" y="1432922"/>
                      <a:pt x="577829" y="1336138"/>
                    </a:cubicBezTo>
                    <a:cubicBezTo>
                      <a:pt x="630446" y="1283520"/>
                      <a:pt x="700837" y="1259508"/>
                      <a:pt x="769512" y="1264796"/>
                    </a:cubicBezTo>
                    <a:cubicBezTo>
                      <a:pt x="815356" y="1267078"/>
                      <a:pt x="855728" y="1247690"/>
                      <a:pt x="888494" y="1211390"/>
                    </a:cubicBezTo>
                    <a:lnTo>
                      <a:pt x="908816" y="1187913"/>
                    </a:lnTo>
                    <a:cubicBezTo>
                      <a:pt x="932421" y="1145103"/>
                      <a:pt x="928577" y="1118677"/>
                      <a:pt x="909040" y="1082585"/>
                    </a:cubicBezTo>
                    <a:cubicBezTo>
                      <a:pt x="658225" y="884883"/>
                      <a:pt x="342873" y="766296"/>
                      <a:pt x="0" y="761802"/>
                    </a:cubicBezTo>
                    <a:close/>
                  </a:path>
                </a:pathLst>
              </a:custGeom>
              <a:solidFill>
                <a:srgbClr val="36B000"/>
              </a:solidFill>
              <a:ln>
                <a:noFill/>
              </a:ln>
              <a:sp3d extrusionH="508000" prstMaterial="plastic">
                <a:bevelT w="190500" h="1206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9" name="Oval 2"/>
              <p:cNvSpPr/>
              <p:nvPr/>
            </p:nvSpPr>
            <p:spPr>
              <a:xfrm rot="5400000">
                <a:off x="4625636" y="3637490"/>
                <a:ext cx="2260644" cy="2260652"/>
              </a:xfrm>
              <a:custGeom>
                <a:avLst/>
                <a:gdLst/>
                <a:ahLst/>
                <a:cxnLst/>
                <a:rect l="l" t="t" r="r" b="b"/>
                <a:pathLst>
                  <a:path w="2260644" h="2260652">
                    <a:moveTo>
                      <a:pt x="0" y="761810"/>
                    </a:moveTo>
                    <a:lnTo>
                      <a:pt x="0" y="0"/>
                    </a:lnTo>
                    <a:cubicBezTo>
                      <a:pt x="1243372" y="11782"/>
                      <a:pt x="2248863" y="1017281"/>
                      <a:pt x="2260644" y="2260652"/>
                    </a:cubicBezTo>
                    <a:lnTo>
                      <a:pt x="1498837" y="2260652"/>
                    </a:lnTo>
                    <a:cubicBezTo>
                      <a:pt x="1494318" y="1915827"/>
                      <a:pt x="1374410" y="1598834"/>
                      <a:pt x="1174825" y="1347212"/>
                    </a:cubicBezTo>
                    <a:cubicBezTo>
                      <a:pt x="1133996" y="1332094"/>
                      <a:pt x="1106383" y="1333073"/>
                      <a:pt x="1062361" y="1367922"/>
                    </a:cubicBezTo>
                    <a:lnTo>
                      <a:pt x="1049179" y="1379332"/>
                    </a:lnTo>
                    <a:cubicBezTo>
                      <a:pt x="1015475" y="1411139"/>
                      <a:pt x="997501" y="1449924"/>
                      <a:pt x="999506" y="1493735"/>
                    </a:cubicBezTo>
                    <a:cubicBezTo>
                      <a:pt x="1005229" y="1562791"/>
                      <a:pt x="981246" y="1633705"/>
                      <a:pt x="928317" y="1686634"/>
                    </a:cubicBezTo>
                    <a:cubicBezTo>
                      <a:pt x="831532" y="1783418"/>
                      <a:pt x="674613" y="1783419"/>
                      <a:pt x="577828" y="1686634"/>
                    </a:cubicBezTo>
                    <a:cubicBezTo>
                      <a:pt x="481044" y="1589850"/>
                      <a:pt x="481044" y="1432930"/>
                      <a:pt x="577829" y="1336146"/>
                    </a:cubicBezTo>
                    <a:cubicBezTo>
                      <a:pt x="630446" y="1283528"/>
                      <a:pt x="700837" y="1259516"/>
                      <a:pt x="769512" y="1264804"/>
                    </a:cubicBezTo>
                    <a:cubicBezTo>
                      <a:pt x="815356" y="1267086"/>
                      <a:pt x="855728" y="1247698"/>
                      <a:pt x="888494" y="1211398"/>
                    </a:cubicBezTo>
                    <a:lnTo>
                      <a:pt x="908816" y="1187921"/>
                    </a:lnTo>
                    <a:cubicBezTo>
                      <a:pt x="932421" y="1145111"/>
                      <a:pt x="928577" y="1118685"/>
                      <a:pt x="909040" y="1082593"/>
                    </a:cubicBezTo>
                    <a:cubicBezTo>
                      <a:pt x="658225" y="884891"/>
                      <a:pt x="342873" y="766304"/>
                      <a:pt x="0" y="761810"/>
                    </a:cubicBezTo>
                    <a:close/>
                  </a:path>
                </a:pathLst>
              </a:custGeom>
              <a:solidFill>
                <a:srgbClr val="F8D500"/>
              </a:solidFill>
              <a:ln>
                <a:noFill/>
              </a:ln>
              <a:sp3d extrusionH="508000" prstMaterial="plastic">
                <a:bevelT w="190500" h="1206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0" name="Oval 2"/>
              <p:cNvSpPr/>
              <p:nvPr/>
            </p:nvSpPr>
            <p:spPr>
              <a:xfrm flipH="1">
                <a:off x="2252833" y="1267124"/>
                <a:ext cx="2260651" cy="2260642"/>
              </a:xfrm>
              <a:custGeom>
                <a:avLst/>
                <a:gdLst/>
                <a:ahLst/>
                <a:cxnLst/>
                <a:rect l="l" t="t" r="r" b="b"/>
                <a:pathLst>
                  <a:path w="2260651" h="2260642">
                    <a:moveTo>
                      <a:pt x="0" y="0"/>
                    </a:moveTo>
                    <a:lnTo>
                      <a:pt x="0" y="761802"/>
                    </a:lnTo>
                    <a:cubicBezTo>
                      <a:pt x="342873" y="766296"/>
                      <a:pt x="658224" y="884884"/>
                      <a:pt x="909039" y="1082585"/>
                    </a:cubicBezTo>
                    <a:cubicBezTo>
                      <a:pt x="928576" y="1118677"/>
                      <a:pt x="932420" y="1145103"/>
                      <a:pt x="908815" y="1187913"/>
                    </a:cubicBezTo>
                    <a:lnTo>
                      <a:pt x="888493" y="1211390"/>
                    </a:lnTo>
                    <a:cubicBezTo>
                      <a:pt x="855727" y="1247690"/>
                      <a:pt x="815355" y="1267078"/>
                      <a:pt x="769511" y="1264796"/>
                    </a:cubicBezTo>
                    <a:cubicBezTo>
                      <a:pt x="700836" y="1259508"/>
                      <a:pt x="630445" y="1283520"/>
                      <a:pt x="577828" y="1336138"/>
                    </a:cubicBezTo>
                    <a:cubicBezTo>
                      <a:pt x="481043" y="1432922"/>
                      <a:pt x="481043" y="1589842"/>
                      <a:pt x="577827" y="1686626"/>
                    </a:cubicBezTo>
                    <a:cubicBezTo>
                      <a:pt x="674612" y="1783411"/>
                      <a:pt x="831531" y="1783410"/>
                      <a:pt x="928316" y="1686626"/>
                    </a:cubicBezTo>
                    <a:cubicBezTo>
                      <a:pt x="981245" y="1633697"/>
                      <a:pt x="1005228" y="1562783"/>
                      <a:pt x="999505" y="1493727"/>
                    </a:cubicBezTo>
                    <a:cubicBezTo>
                      <a:pt x="997500" y="1449916"/>
                      <a:pt x="1015474" y="1411131"/>
                      <a:pt x="1049178" y="1379324"/>
                    </a:cubicBezTo>
                    <a:lnTo>
                      <a:pt x="1062360" y="1367914"/>
                    </a:lnTo>
                    <a:cubicBezTo>
                      <a:pt x="1106382" y="1333065"/>
                      <a:pt x="1133995" y="1332086"/>
                      <a:pt x="1174824" y="1347204"/>
                    </a:cubicBezTo>
                    <a:cubicBezTo>
                      <a:pt x="1374409" y="1598825"/>
                      <a:pt x="1494317" y="1915818"/>
                      <a:pt x="1498835" y="2260642"/>
                    </a:cubicBezTo>
                    <a:lnTo>
                      <a:pt x="2260651" y="2260642"/>
                    </a:lnTo>
                    <a:cubicBezTo>
                      <a:pt x="2248868" y="1017273"/>
                      <a:pt x="1243371" y="11782"/>
                      <a:pt x="0" y="0"/>
                    </a:cubicBezTo>
                    <a:close/>
                  </a:path>
                </a:pathLst>
              </a:custGeom>
              <a:solidFill>
                <a:srgbClr val="F72525"/>
              </a:solidFill>
              <a:ln>
                <a:noFill/>
              </a:ln>
              <a:sp3d extrusionH="508000" prstMaterial="plastic">
                <a:bevelT w="190500" h="1206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1" name="Oval 2"/>
              <p:cNvSpPr/>
              <p:nvPr/>
            </p:nvSpPr>
            <p:spPr>
              <a:xfrm rot="16200000" flipH="1">
                <a:off x="2253979" y="3638648"/>
                <a:ext cx="2263080" cy="2260773"/>
              </a:xfrm>
              <a:custGeom>
                <a:avLst/>
                <a:gdLst/>
                <a:ahLst/>
                <a:cxnLst/>
                <a:rect l="l" t="t" r="r" b="b"/>
                <a:pathLst>
                  <a:path w="2263080" h="2260773">
                    <a:moveTo>
                      <a:pt x="0" y="0"/>
                    </a:moveTo>
                    <a:lnTo>
                      <a:pt x="0" y="761829"/>
                    </a:lnTo>
                    <a:cubicBezTo>
                      <a:pt x="343814" y="765864"/>
                      <a:pt x="660067" y="884545"/>
                      <a:pt x="911476" y="1082715"/>
                    </a:cubicBezTo>
                    <a:cubicBezTo>
                      <a:pt x="931013" y="1118807"/>
                      <a:pt x="934857" y="1145233"/>
                      <a:pt x="911252" y="1188043"/>
                    </a:cubicBezTo>
                    <a:lnTo>
                      <a:pt x="890930" y="1211520"/>
                    </a:lnTo>
                    <a:cubicBezTo>
                      <a:pt x="858164" y="1247820"/>
                      <a:pt x="817792" y="1267208"/>
                      <a:pt x="771948" y="1264926"/>
                    </a:cubicBezTo>
                    <a:cubicBezTo>
                      <a:pt x="703273" y="1259638"/>
                      <a:pt x="632882" y="1283650"/>
                      <a:pt x="580265" y="1336268"/>
                    </a:cubicBezTo>
                    <a:cubicBezTo>
                      <a:pt x="483480" y="1433052"/>
                      <a:pt x="483480" y="1589972"/>
                      <a:pt x="580264" y="1686756"/>
                    </a:cubicBezTo>
                    <a:cubicBezTo>
                      <a:pt x="677049" y="1783541"/>
                      <a:pt x="833968" y="1783540"/>
                      <a:pt x="930753" y="1686756"/>
                    </a:cubicBezTo>
                    <a:cubicBezTo>
                      <a:pt x="983682" y="1633827"/>
                      <a:pt x="1007665" y="1562913"/>
                      <a:pt x="1001942" y="1493857"/>
                    </a:cubicBezTo>
                    <a:cubicBezTo>
                      <a:pt x="999937" y="1450046"/>
                      <a:pt x="1017911" y="1411261"/>
                      <a:pt x="1051615" y="1379454"/>
                    </a:cubicBezTo>
                    <a:lnTo>
                      <a:pt x="1064797" y="1368044"/>
                    </a:lnTo>
                    <a:cubicBezTo>
                      <a:pt x="1108819" y="1333195"/>
                      <a:pt x="1136432" y="1332216"/>
                      <a:pt x="1177261" y="1347334"/>
                    </a:cubicBezTo>
                    <a:cubicBezTo>
                      <a:pt x="1376846" y="1598955"/>
                      <a:pt x="1496754" y="1915948"/>
                      <a:pt x="1501272" y="2260773"/>
                    </a:cubicBezTo>
                    <a:lnTo>
                      <a:pt x="2263080" y="2260773"/>
                    </a:lnTo>
                    <a:cubicBezTo>
                      <a:pt x="2251291" y="1016590"/>
                      <a:pt x="1244493" y="10590"/>
                      <a:pt x="0" y="0"/>
                    </a:cubicBezTo>
                    <a:close/>
                  </a:path>
                </a:pathLst>
              </a:custGeom>
              <a:solidFill>
                <a:srgbClr val="0070C0"/>
              </a:solidFill>
              <a:ln>
                <a:noFill/>
              </a:ln>
              <a:sp3d extrusionH="508000" prstMaterial="plastic">
                <a:bevelT w="190500" h="1206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2" name="Oval 24"/>
              <p:cNvSpPr>
                <a:spLocks noChangeAspect="1"/>
              </p:cNvSpPr>
              <p:nvPr/>
            </p:nvSpPr>
            <p:spPr>
              <a:xfrm>
                <a:off x="3039676" y="2053966"/>
                <a:ext cx="3059766" cy="3059766"/>
              </a:xfrm>
              <a:custGeom>
                <a:avLst/>
                <a:gdLst/>
                <a:ahLst/>
                <a:cxnLst/>
                <a:rect l="l" t="t" r="r" b="b"/>
                <a:pathLst>
                  <a:path w="3059766" h="3059766">
                    <a:moveTo>
                      <a:pt x="1529883" y="0"/>
                    </a:moveTo>
                    <a:cubicBezTo>
                      <a:pt x="1902799" y="0"/>
                      <a:pt x="2244551" y="133425"/>
                      <a:pt x="2509745" y="355454"/>
                    </a:cubicBezTo>
                    <a:cubicBezTo>
                      <a:pt x="2509352" y="369197"/>
                      <a:pt x="2504297" y="383801"/>
                      <a:pt x="2494774" y="401071"/>
                    </a:cubicBezTo>
                    <a:lnTo>
                      <a:pt x="2474452" y="424548"/>
                    </a:lnTo>
                    <a:cubicBezTo>
                      <a:pt x="2441686" y="460848"/>
                      <a:pt x="2401314" y="480236"/>
                      <a:pt x="2355470" y="477954"/>
                    </a:cubicBezTo>
                    <a:cubicBezTo>
                      <a:pt x="2286795" y="472666"/>
                      <a:pt x="2216404" y="496678"/>
                      <a:pt x="2163787" y="549296"/>
                    </a:cubicBezTo>
                    <a:cubicBezTo>
                      <a:pt x="2067002" y="646080"/>
                      <a:pt x="2067002" y="803000"/>
                      <a:pt x="2163786" y="899784"/>
                    </a:cubicBezTo>
                    <a:cubicBezTo>
                      <a:pt x="2260571" y="996569"/>
                      <a:pt x="2417490" y="996568"/>
                      <a:pt x="2514275" y="899784"/>
                    </a:cubicBezTo>
                    <a:cubicBezTo>
                      <a:pt x="2567204" y="846855"/>
                      <a:pt x="2591187" y="775941"/>
                      <a:pt x="2585464" y="706885"/>
                    </a:cubicBezTo>
                    <a:cubicBezTo>
                      <a:pt x="2583459" y="663074"/>
                      <a:pt x="2601433" y="624289"/>
                      <a:pt x="2635137" y="592482"/>
                    </a:cubicBezTo>
                    <a:lnTo>
                      <a:pt x="2648319" y="581072"/>
                    </a:lnTo>
                    <a:cubicBezTo>
                      <a:pt x="2670473" y="563535"/>
                      <a:pt x="2688471" y="554575"/>
                      <a:pt x="2706097" y="551984"/>
                    </a:cubicBezTo>
                    <a:cubicBezTo>
                      <a:pt x="2927022" y="816962"/>
                      <a:pt x="3059766" y="1157921"/>
                      <a:pt x="3059766" y="1529883"/>
                    </a:cubicBezTo>
                    <a:cubicBezTo>
                      <a:pt x="3059766" y="1901751"/>
                      <a:pt x="2927090" y="2242631"/>
                      <a:pt x="2706274" y="2507587"/>
                    </a:cubicBezTo>
                    <a:cubicBezTo>
                      <a:pt x="2691987" y="2507407"/>
                      <a:pt x="2676804" y="2502334"/>
                      <a:pt x="2658687" y="2492344"/>
                    </a:cubicBezTo>
                    <a:lnTo>
                      <a:pt x="2635210" y="2472022"/>
                    </a:lnTo>
                    <a:cubicBezTo>
                      <a:pt x="2598910" y="2439256"/>
                      <a:pt x="2579522" y="2398884"/>
                      <a:pt x="2581804" y="2353040"/>
                    </a:cubicBezTo>
                    <a:cubicBezTo>
                      <a:pt x="2587092" y="2284365"/>
                      <a:pt x="2563080" y="2213974"/>
                      <a:pt x="2510462" y="2161357"/>
                    </a:cubicBezTo>
                    <a:cubicBezTo>
                      <a:pt x="2413678" y="2064572"/>
                      <a:pt x="2256758" y="2064572"/>
                      <a:pt x="2159974" y="2161356"/>
                    </a:cubicBezTo>
                    <a:cubicBezTo>
                      <a:pt x="2063189" y="2258141"/>
                      <a:pt x="2063190" y="2415060"/>
                      <a:pt x="2159974" y="2511845"/>
                    </a:cubicBezTo>
                    <a:cubicBezTo>
                      <a:pt x="2212903" y="2564774"/>
                      <a:pt x="2283817" y="2588757"/>
                      <a:pt x="2352873" y="2583034"/>
                    </a:cubicBezTo>
                    <a:cubicBezTo>
                      <a:pt x="2396684" y="2581029"/>
                      <a:pt x="2435469" y="2599003"/>
                      <a:pt x="2467276" y="2632707"/>
                    </a:cubicBezTo>
                    <a:lnTo>
                      <a:pt x="2478686" y="2645889"/>
                    </a:lnTo>
                    <a:cubicBezTo>
                      <a:pt x="2497029" y="2669060"/>
                      <a:pt x="2505988" y="2687685"/>
                      <a:pt x="2507743" y="2706133"/>
                    </a:cubicBezTo>
                    <a:cubicBezTo>
                      <a:pt x="2242769" y="2927036"/>
                      <a:pt x="1901827" y="3059766"/>
                      <a:pt x="1529883" y="3059766"/>
                    </a:cubicBezTo>
                    <a:cubicBezTo>
                      <a:pt x="1159113" y="3059766"/>
                      <a:pt x="819148" y="2927871"/>
                      <a:pt x="554441" y="2708330"/>
                    </a:cubicBezTo>
                    <a:cubicBezTo>
                      <a:pt x="556276" y="2689962"/>
                      <a:pt x="565237" y="2671397"/>
                      <a:pt x="583501" y="2648326"/>
                    </a:cubicBezTo>
                    <a:lnTo>
                      <a:pt x="594911" y="2635144"/>
                    </a:lnTo>
                    <a:cubicBezTo>
                      <a:pt x="626718" y="2601440"/>
                      <a:pt x="665503" y="2583466"/>
                      <a:pt x="709314" y="2585471"/>
                    </a:cubicBezTo>
                    <a:cubicBezTo>
                      <a:pt x="778370" y="2591194"/>
                      <a:pt x="849284" y="2567211"/>
                      <a:pt x="902213" y="2514282"/>
                    </a:cubicBezTo>
                    <a:cubicBezTo>
                      <a:pt x="998997" y="2417497"/>
                      <a:pt x="998998" y="2260578"/>
                      <a:pt x="902213" y="2163793"/>
                    </a:cubicBezTo>
                    <a:cubicBezTo>
                      <a:pt x="805429" y="2067009"/>
                      <a:pt x="648509" y="2067009"/>
                      <a:pt x="551725" y="2163794"/>
                    </a:cubicBezTo>
                    <a:cubicBezTo>
                      <a:pt x="499107" y="2216411"/>
                      <a:pt x="475095" y="2286802"/>
                      <a:pt x="480383" y="2355477"/>
                    </a:cubicBezTo>
                    <a:cubicBezTo>
                      <a:pt x="482665" y="2401321"/>
                      <a:pt x="463277" y="2441693"/>
                      <a:pt x="426977" y="2474459"/>
                    </a:cubicBezTo>
                    <a:lnTo>
                      <a:pt x="403500" y="2494781"/>
                    </a:lnTo>
                    <a:cubicBezTo>
                      <a:pt x="385303" y="2504814"/>
                      <a:pt x="370067" y="2509888"/>
                      <a:pt x="355729" y="2510049"/>
                    </a:cubicBezTo>
                    <a:cubicBezTo>
                      <a:pt x="133531" y="2244821"/>
                      <a:pt x="0" y="1902946"/>
                      <a:pt x="0" y="1529883"/>
                    </a:cubicBezTo>
                    <a:cubicBezTo>
                      <a:pt x="0" y="1157920"/>
                      <a:pt x="132745" y="816961"/>
                      <a:pt x="353670" y="551983"/>
                    </a:cubicBezTo>
                    <a:cubicBezTo>
                      <a:pt x="371296" y="554574"/>
                      <a:pt x="389294" y="563534"/>
                      <a:pt x="411447" y="581071"/>
                    </a:cubicBezTo>
                    <a:lnTo>
                      <a:pt x="424629" y="592481"/>
                    </a:lnTo>
                    <a:cubicBezTo>
                      <a:pt x="458333" y="624288"/>
                      <a:pt x="476307" y="663073"/>
                      <a:pt x="474302" y="706884"/>
                    </a:cubicBezTo>
                    <a:cubicBezTo>
                      <a:pt x="468579" y="775940"/>
                      <a:pt x="492562" y="846854"/>
                      <a:pt x="545491" y="899783"/>
                    </a:cubicBezTo>
                    <a:cubicBezTo>
                      <a:pt x="642276" y="996567"/>
                      <a:pt x="799195" y="996568"/>
                      <a:pt x="895980" y="899783"/>
                    </a:cubicBezTo>
                    <a:cubicBezTo>
                      <a:pt x="992764" y="802999"/>
                      <a:pt x="992764" y="646079"/>
                      <a:pt x="895979" y="549295"/>
                    </a:cubicBezTo>
                    <a:cubicBezTo>
                      <a:pt x="843362" y="496677"/>
                      <a:pt x="772971" y="472665"/>
                      <a:pt x="704296" y="477953"/>
                    </a:cubicBezTo>
                    <a:cubicBezTo>
                      <a:pt x="658452" y="480235"/>
                      <a:pt x="618080" y="460847"/>
                      <a:pt x="585314" y="424547"/>
                    </a:cubicBezTo>
                    <a:lnTo>
                      <a:pt x="564992" y="401070"/>
                    </a:lnTo>
                    <a:cubicBezTo>
                      <a:pt x="555470" y="383801"/>
                      <a:pt x="550414" y="369197"/>
                      <a:pt x="550021" y="355454"/>
                    </a:cubicBezTo>
                    <a:cubicBezTo>
                      <a:pt x="815216" y="133425"/>
                      <a:pt x="1156968" y="0"/>
                      <a:pt x="1529883" y="0"/>
                    </a:cubicBezTo>
                    <a:close/>
                  </a:path>
                </a:pathLst>
              </a:custGeom>
              <a:solidFill>
                <a:schemeClr val="bg1">
                  <a:lumMod val="95000"/>
                </a:schemeClr>
              </a:solidFill>
              <a:ln>
                <a:noFill/>
              </a:ln>
              <a:sp3d extrusionH="508000" prstMaterial="plastic">
                <a:bevelT w="190500" h="1206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600" b="1" dirty="0" smtClean="0">
                    <a:solidFill>
                      <a:srgbClr val="92D050"/>
                    </a:solidFill>
                    <a:latin typeface="Arial Black" pitchFamily="34" charset="0"/>
                  </a:rPr>
                  <a:t>DW</a:t>
                </a:r>
                <a:endParaRPr lang="en-US" sz="1600" dirty="0"/>
              </a:p>
            </p:txBody>
          </p:sp>
        </p:grpSp>
        <p:sp>
          <p:nvSpPr>
            <p:cNvPr id="4" name="TextBox 3"/>
            <p:cNvSpPr txBox="1"/>
            <p:nvPr/>
          </p:nvSpPr>
          <p:spPr>
            <a:xfrm rot="18720000">
              <a:off x="2473747" y="2185477"/>
              <a:ext cx="1723549" cy="1046195"/>
            </a:xfrm>
            <a:prstGeom prst="rect">
              <a:avLst/>
            </a:prstGeom>
            <a:noFill/>
            <a:scene3d>
              <a:camera prst="perspectiveContrastingRightFacing" fov="2700000">
                <a:rot lat="238412" lon="365640" rev="614679"/>
              </a:camera>
              <a:lightRig rig="threePt" dir="t"/>
            </a:scene3d>
          </p:spPr>
          <p:txBody>
            <a:bodyPr wrap="none" rtlCol="0">
              <a:prstTxWarp prst="textArchUp">
                <a:avLst>
                  <a:gd name="adj" fmla="val 9935011"/>
                </a:avLst>
              </a:prstTxWarp>
              <a:spAutoFit/>
            </a:bodyPr>
            <a:lstStyle/>
            <a:p>
              <a:pPr algn="ctr"/>
              <a:r>
                <a:rPr lang="en-US" sz="2000" b="1" dirty="0" smtClean="0">
                  <a:solidFill>
                    <a:schemeClr val="bg1"/>
                  </a:solidFill>
                  <a:effectLst>
                    <a:outerShdw blurRad="50800" dist="38100" dir="2700000" algn="tl" rotWithShape="0">
                      <a:prstClr val="black">
                        <a:alpha val="40000"/>
                      </a:prstClr>
                    </a:outerShdw>
                  </a:effectLst>
                </a:rPr>
                <a:t>Subject oriented</a:t>
              </a:r>
              <a:endParaRPr lang="en-US" sz="2000" b="1" dirty="0">
                <a:solidFill>
                  <a:schemeClr val="bg1"/>
                </a:solidFill>
                <a:effectLst>
                  <a:outerShdw blurRad="50800" dist="38100" dir="2700000" algn="tl" rotWithShape="0">
                    <a:prstClr val="black">
                      <a:alpha val="40000"/>
                    </a:prstClr>
                  </a:outerShdw>
                </a:effectLst>
              </a:endParaRPr>
            </a:p>
          </p:txBody>
        </p:sp>
        <p:sp>
          <p:nvSpPr>
            <p:cNvPr id="5" name="TextBox 4"/>
            <p:cNvSpPr txBox="1"/>
            <p:nvPr/>
          </p:nvSpPr>
          <p:spPr>
            <a:xfrm rot="2700000">
              <a:off x="2740092" y="4210658"/>
              <a:ext cx="1975617" cy="859251"/>
            </a:xfrm>
            <a:prstGeom prst="rect">
              <a:avLst/>
            </a:prstGeom>
            <a:noFill/>
            <a:scene3d>
              <a:camera prst="perspectiveContrastingRightFacing" fov="2700000">
                <a:rot lat="238412" lon="365640" rev="614679"/>
              </a:camera>
              <a:lightRig rig="threePt" dir="t"/>
            </a:scene3d>
          </p:spPr>
          <p:txBody>
            <a:bodyPr wrap="none" rtlCol="0">
              <a:prstTxWarp prst="textArchDown">
                <a:avLst/>
              </a:prstTxWarp>
              <a:spAutoFit/>
            </a:bodyPr>
            <a:lstStyle/>
            <a:p>
              <a:pPr algn="ctr"/>
              <a:r>
                <a:rPr lang="en-US" b="1" dirty="0" smtClean="0">
                  <a:solidFill>
                    <a:schemeClr val="bg1"/>
                  </a:solidFill>
                  <a:effectLst>
                    <a:outerShdw blurRad="50800" dist="38100" dir="5400000" algn="t" rotWithShape="0">
                      <a:prstClr val="black">
                        <a:alpha val="40000"/>
                      </a:prstClr>
                    </a:outerShdw>
                  </a:effectLst>
                </a:rPr>
                <a:t>Time-</a:t>
              </a:r>
              <a:r>
                <a:rPr lang="en-US" b="1" dirty="0" err="1" smtClean="0">
                  <a:solidFill>
                    <a:schemeClr val="bg1"/>
                  </a:solidFill>
                  <a:effectLst>
                    <a:outerShdw blurRad="50800" dist="38100" dir="5400000" algn="t" rotWithShape="0">
                      <a:prstClr val="black">
                        <a:alpha val="40000"/>
                      </a:prstClr>
                    </a:outerShdw>
                  </a:effectLst>
                </a:rPr>
                <a:t>varient</a:t>
              </a:r>
              <a:endParaRPr lang="en-US" sz="2400" b="1" dirty="0">
                <a:solidFill>
                  <a:schemeClr val="bg1"/>
                </a:solidFill>
                <a:effectLst>
                  <a:outerShdw blurRad="50800" dist="38100" dir="5400000" algn="t" rotWithShape="0">
                    <a:prstClr val="black">
                      <a:alpha val="40000"/>
                    </a:prstClr>
                  </a:outerShdw>
                </a:effectLst>
              </a:endParaRPr>
            </a:p>
          </p:txBody>
        </p:sp>
        <p:sp>
          <p:nvSpPr>
            <p:cNvPr id="6" name="TextBox 5"/>
            <p:cNvSpPr txBox="1"/>
            <p:nvPr/>
          </p:nvSpPr>
          <p:spPr>
            <a:xfrm rot="18420000">
              <a:off x="4624114" y="3723140"/>
              <a:ext cx="2175362" cy="1025252"/>
            </a:xfrm>
            <a:prstGeom prst="rect">
              <a:avLst/>
            </a:prstGeom>
            <a:noFill/>
            <a:scene3d>
              <a:camera prst="perspectiveContrastingRightFacing" fov="2700000">
                <a:rot lat="128711" lon="956398" rev="646286"/>
              </a:camera>
              <a:lightRig rig="threePt" dir="t"/>
            </a:scene3d>
          </p:spPr>
          <p:txBody>
            <a:bodyPr wrap="none" rtlCol="0">
              <a:prstTxWarp prst="textArchDown">
                <a:avLst/>
              </a:prstTxWarp>
              <a:spAutoFit/>
            </a:bodyPr>
            <a:lstStyle/>
            <a:p>
              <a:pPr algn="ctr"/>
              <a:r>
                <a:rPr lang="en-US" b="1" dirty="0" smtClean="0">
                  <a:solidFill>
                    <a:schemeClr val="bg1"/>
                  </a:solidFill>
                  <a:effectLst>
                    <a:outerShdw blurRad="50800" dist="38100" dir="2700000" algn="tl" rotWithShape="0">
                      <a:prstClr val="black">
                        <a:alpha val="40000"/>
                      </a:prstClr>
                    </a:outerShdw>
                  </a:effectLst>
                </a:rPr>
                <a:t>Non-volatile</a:t>
              </a:r>
              <a:endParaRPr lang="en-US" sz="2400" b="1" dirty="0">
                <a:solidFill>
                  <a:schemeClr val="bg1"/>
                </a:solidFill>
                <a:effectLst>
                  <a:outerShdw blurRad="50800" dist="38100" dir="2700000" algn="tl" rotWithShape="0">
                    <a:prstClr val="black">
                      <a:alpha val="40000"/>
                    </a:prstClr>
                  </a:outerShdw>
                </a:effectLst>
              </a:endParaRPr>
            </a:p>
          </p:txBody>
        </p:sp>
        <p:sp>
          <p:nvSpPr>
            <p:cNvPr id="7" name="TextBox 6"/>
            <p:cNvSpPr txBox="1"/>
            <p:nvPr/>
          </p:nvSpPr>
          <p:spPr>
            <a:xfrm rot="2820000">
              <a:off x="4013337" y="1949458"/>
              <a:ext cx="2243144" cy="1046195"/>
            </a:xfrm>
            <a:prstGeom prst="rect">
              <a:avLst/>
            </a:prstGeom>
            <a:noFill/>
            <a:scene3d>
              <a:camera prst="perspectiveContrastingRightFacing" fov="2700000">
                <a:rot lat="238412" lon="365640" rev="614679"/>
              </a:camera>
              <a:lightRig rig="threePt" dir="t"/>
            </a:scene3d>
          </p:spPr>
          <p:txBody>
            <a:bodyPr wrap="none" rtlCol="0">
              <a:prstTxWarp prst="textArchUp">
                <a:avLst>
                  <a:gd name="adj" fmla="val 9935011"/>
                </a:avLst>
              </a:prstTxWarp>
              <a:spAutoFit/>
            </a:bodyPr>
            <a:lstStyle/>
            <a:p>
              <a:pPr algn="ctr"/>
              <a:r>
                <a:rPr lang="en-US" sz="2000" b="1" dirty="0" smtClean="0">
                  <a:solidFill>
                    <a:schemeClr val="bg1"/>
                  </a:solidFill>
                  <a:effectLst>
                    <a:outerShdw blurRad="50800" dist="38100" dir="2700000" algn="tl" rotWithShape="0">
                      <a:prstClr val="black">
                        <a:alpha val="40000"/>
                      </a:prstClr>
                    </a:outerShdw>
                  </a:effectLst>
                </a:rPr>
                <a:t>integrated</a:t>
              </a:r>
              <a:endParaRPr lang="en-US" sz="2000" b="1" dirty="0">
                <a:solidFill>
                  <a:schemeClr val="bg1"/>
                </a:solidFill>
                <a:effectLst>
                  <a:outerShdw blurRad="50800" dist="38100" dir="2700000" algn="tl" rotWithShape="0">
                    <a:prstClr val="black">
                      <a:alpha val="40000"/>
                    </a:prstClr>
                  </a:outerShdw>
                </a:effectLst>
              </a:endParaRPr>
            </a:p>
          </p:txBody>
        </p:sp>
      </p:grpSp>
      <p:sp>
        <p:nvSpPr>
          <p:cNvPr id="13" name="TextBox 12"/>
          <p:cNvSpPr txBox="1"/>
          <p:nvPr/>
        </p:nvSpPr>
        <p:spPr>
          <a:xfrm>
            <a:off x="892943" y="642918"/>
            <a:ext cx="7358114" cy="584775"/>
          </a:xfrm>
          <a:prstGeom prst="rect">
            <a:avLst/>
          </a:prstGeom>
          <a:noFill/>
        </p:spPr>
        <p:txBody>
          <a:bodyPr wrap="square" rtlCol="0">
            <a:spAutoFit/>
          </a:bodyPr>
          <a:lstStyle/>
          <a:p>
            <a:r>
              <a:rPr lang="en-US" sz="3200" b="1" dirty="0" smtClean="0"/>
              <a:t>CHARACTERSTICES OF DATA WAREHOUSE</a:t>
            </a:r>
            <a:endParaRPr lang="en-US" sz="32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85786" y="1285860"/>
            <a:ext cx="7643866" cy="4154984"/>
          </a:xfrm>
          <a:prstGeom prst="rect">
            <a:avLst/>
          </a:prstGeom>
          <a:noFill/>
        </p:spPr>
        <p:txBody>
          <a:bodyPr wrap="square" rtlCol="0">
            <a:spAutoFit/>
          </a:bodyPr>
          <a:lstStyle/>
          <a:p>
            <a:pPr>
              <a:buFont typeface="Wingdings" pitchFamily="2" charset="2"/>
              <a:buChar char="ü"/>
            </a:pPr>
            <a:r>
              <a:rPr lang="en-US" sz="2400" dirty="0" smtClean="0"/>
              <a:t>A </a:t>
            </a:r>
            <a:r>
              <a:rPr lang="en-US" sz="2400" dirty="0"/>
              <a:t>data warehouse is subject oriented as it offers information regarding a theme instead of companies' ongoing operations. These subjects can be sales, marketing, distributions, etc.</a:t>
            </a:r>
          </a:p>
          <a:p>
            <a:pPr>
              <a:buFont typeface="Wingdings" pitchFamily="2" charset="2"/>
              <a:buChar char="ü"/>
            </a:pPr>
            <a:r>
              <a:rPr lang="en-US" sz="2400" dirty="0"/>
              <a:t>A data warehouse never focuses on the ongoing operations. Instead, it put emphasis on modeling and analysis of data for </a:t>
            </a:r>
            <a:r>
              <a:rPr lang="en-US" sz="2400" b="1" dirty="0"/>
              <a:t>decision making</a:t>
            </a:r>
            <a:r>
              <a:rPr lang="en-US" sz="2400" dirty="0"/>
              <a:t>. It also provides a simple and concise view around the specific subject by excluding data which not helpful to support the decision process.</a:t>
            </a:r>
          </a:p>
          <a:p>
            <a:pPr>
              <a:buFont typeface="Wingdings" pitchFamily="2" charset="2"/>
              <a:buChar char="ü"/>
            </a:pPr>
            <a:endParaRPr lang="en-US" sz="2400" dirty="0"/>
          </a:p>
        </p:txBody>
      </p:sp>
      <p:sp>
        <p:nvSpPr>
          <p:cNvPr id="3" name="TextBox 2"/>
          <p:cNvSpPr txBox="1"/>
          <p:nvPr/>
        </p:nvSpPr>
        <p:spPr>
          <a:xfrm>
            <a:off x="1357290" y="500042"/>
            <a:ext cx="6429420" cy="584775"/>
          </a:xfrm>
          <a:prstGeom prst="rect">
            <a:avLst/>
          </a:prstGeom>
          <a:noFill/>
        </p:spPr>
        <p:txBody>
          <a:bodyPr wrap="square" rtlCol="0">
            <a:spAutoFit/>
          </a:bodyPr>
          <a:lstStyle/>
          <a:p>
            <a:pPr algn="ctr"/>
            <a:r>
              <a:rPr lang="en-US" sz="3200" b="1" dirty="0" smtClean="0"/>
              <a:t>SUBJECT-ORIENTED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596" y="285728"/>
            <a:ext cx="3857652" cy="5909310"/>
          </a:xfrm>
          <a:prstGeom prst="rect">
            <a:avLst/>
          </a:prstGeom>
          <a:noFill/>
        </p:spPr>
        <p:txBody>
          <a:bodyPr wrap="square" rtlCol="0">
            <a:spAutoFit/>
          </a:bodyPr>
          <a:lstStyle/>
          <a:p>
            <a:r>
              <a:rPr lang="en-US" b="1" dirty="0"/>
              <a:t>Integrated</a:t>
            </a:r>
          </a:p>
          <a:p>
            <a:r>
              <a:rPr lang="en-US" dirty="0"/>
              <a:t>In Data Warehouse, integration means the establishment of a common unit of measure for all similar data from the dissimilar database. The data also needs to be stored in the </a:t>
            </a:r>
            <a:r>
              <a:rPr lang="en-US" dirty="0" err="1"/>
              <a:t>Datawarehouse</a:t>
            </a:r>
            <a:r>
              <a:rPr lang="en-US" dirty="0"/>
              <a:t> in common and universally acceptable manner.</a:t>
            </a:r>
          </a:p>
          <a:p>
            <a:r>
              <a:rPr lang="en-US" dirty="0"/>
              <a:t>A data warehouse is developed by integrating data from varied sources like a mainframe, relational databases, flat files, etc. Moreover, it must keep consistent naming conventions, format, and coding.</a:t>
            </a:r>
          </a:p>
          <a:p>
            <a:r>
              <a:rPr lang="en-US" dirty="0"/>
              <a:t>This integration helps in effective analysis of data. Consistency in naming conventions, attribute measures, encoding structure etc. have to be ensured. Consider the following example:</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ttps://www.guru99.com/images/1/022218_0735_DataWarehou1.png"/>
          <p:cNvPicPr>
            <a:picLocks noChangeAspect="1" noChangeArrowheads="1"/>
          </p:cNvPicPr>
          <p:nvPr/>
        </p:nvPicPr>
        <p:blipFill>
          <a:blip r:embed="rId2"/>
          <a:srcRect/>
          <a:stretch>
            <a:fillRect/>
          </a:stretch>
        </p:blipFill>
        <p:spPr bwMode="auto">
          <a:xfrm>
            <a:off x="357158" y="571480"/>
            <a:ext cx="7210425" cy="4333875"/>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1305342"/>
            <a:ext cx="4572000" cy="4247317"/>
          </a:xfrm>
          <a:prstGeom prst="rect">
            <a:avLst/>
          </a:prstGeom>
        </p:spPr>
        <p:txBody>
          <a:bodyPr>
            <a:spAutoFit/>
          </a:bodyPr>
          <a:lstStyle/>
          <a:p>
            <a:r>
              <a:rPr lang="en-US" dirty="0"/>
              <a:t>In the above example, there are three different application labeled A, B and C. Information stored in these applications are Gender, Date, and Balance. However, each application's data is stored different way.</a:t>
            </a:r>
          </a:p>
          <a:p>
            <a:r>
              <a:rPr lang="en-US" dirty="0"/>
              <a:t>In Application A gender field store logical values like M or F</a:t>
            </a:r>
          </a:p>
          <a:p>
            <a:r>
              <a:rPr lang="en-US" dirty="0"/>
              <a:t>In Application B gender field is a numerical value,</a:t>
            </a:r>
          </a:p>
          <a:p>
            <a:r>
              <a:rPr lang="en-US" dirty="0"/>
              <a:t>In Application C application, gender field stored in the form of a character value.</a:t>
            </a:r>
          </a:p>
          <a:p>
            <a:r>
              <a:rPr lang="en-US" dirty="0"/>
              <a:t>Same is the case with Date and balance</a:t>
            </a:r>
          </a:p>
          <a:p>
            <a:r>
              <a:rPr lang="en-US" dirty="0"/>
              <a:t>However, after transformation and cleaning process all this data is stored in common format in the Data Warehouse.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1028343"/>
            <a:ext cx="4572000" cy="4801314"/>
          </a:xfrm>
          <a:prstGeom prst="rect">
            <a:avLst/>
          </a:prstGeom>
        </p:spPr>
        <p:txBody>
          <a:bodyPr>
            <a:spAutoFit/>
          </a:bodyPr>
          <a:lstStyle/>
          <a:p>
            <a:r>
              <a:rPr lang="en-US" b="1" dirty="0"/>
              <a:t>Time-Variant</a:t>
            </a:r>
          </a:p>
          <a:p>
            <a:r>
              <a:rPr lang="en-US" dirty="0"/>
              <a:t>The time horizon for data warehouse is quite extensive compared with operational systems. The data collected in a data warehouse is recognized with a particular period and offers information from the historical point of view. It contains an element of time, explicitly or implicitly.</a:t>
            </a:r>
          </a:p>
          <a:p>
            <a:r>
              <a:rPr lang="en-US" dirty="0"/>
              <a:t>One such place where </a:t>
            </a:r>
            <a:r>
              <a:rPr lang="en-US" dirty="0" err="1"/>
              <a:t>Datawarehouse</a:t>
            </a:r>
            <a:r>
              <a:rPr lang="en-US" dirty="0"/>
              <a:t> data display time variance is in in the structure of the record key. Every primary key contained with the DW should have either implicitly or explicitly an element of time. Like the day, week month, etc.</a:t>
            </a:r>
          </a:p>
          <a:p>
            <a:r>
              <a:rPr lang="en-US" dirty="0"/>
              <a:t>Another aspect of time variance is that once data is inserted in the warehouse, it can't be updated or changed.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1028343"/>
            <a:ext cx="4572000" cy="4801314"/>
          </a:xfrm>
          <a:prstGeom prst="rect">
            <a:avLst/>
          </a:prstGeom>
        </p:spPr>
        <p:txBody>
          <a:bodyPr>
            <a:spAutoFit/>
          </a:bodyPr>
          <a:lstStyle/>
          <a:p>
            <a:r>
              <a:rPr lang="en-US" b="1" dirty="0"/>
              <a:t>Non-volatile</a:t>
            </a:r>
          </a:p>
          <a:p>
            <a:r>
              <a:rPr lang="en-US" dirty="0"/>
              <a:t>Data warehouse is also non-volatile means the previous data is not erased when new data is entered in it.</a:t>
            </a:r>
          </a:p>
          <a:p>
            <a:r>
              <a:rPr lang="en-US" dirty="0"/>
              <a:t>Data is read-only and periodically refreshed. This also helps to analyze historical data and understand what &amp; when happened. It does not require transaction process, recovery and concurrency control mechanisms.</a:t>
            </a:r>
          </a:p>
          <a:p>
            <a:r>
              <a:rPr lang="en-US" dirty="0"/>
              <a:t>Activities like delete, update, and insert which are performed in an operational application environment are omitted in Data warehouse environment. Only two types of data operations performed in the Data Warehousing are</a:t>
            </a:r>
          </a:p>
          <a:p>
            <a:pPr marL="342900" indent="-342900">
              <a:buFont typeface="+mj-lt"/>
              <a:buAutoNum type="arabicPeriod"/>
            </a:pPr>
            <a:r>
              <a:rPr lang="en-US" dirty="0"/>
              <a:t>Data loading</a:t>
            </a:r>
          </a:p>
          <a:p>
            <a:pPr marL="342900" indent="-342900">
              <a:buFont typeface="+mj-lt"/>
              <a:buAutoNum type="arabicPeriod"/>
            </a:pPr>
            <a:r>
              <a:rPr lang="en-US" dirty="0"/>
              <a:t>Data access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0" y="357166"/>
            <a:ext cx="9144000" cy="8463855"/>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3200" b="1" i="0" u="none" strike="noStrike" cap="none" normalizeH="0" baseline="0" dirty="0" smtClean="0">
                <a:ln>
                  <a:noFill/>
                </a:ln>
                <a:solidFill>
                  <a:srgbClr val="222222"/>
                </a:solidFill>
                <a:effectLst/>
                <a:latin typeface="Source Sans Pro"/>
                <a:cs typeface="Arial" pitchFamily="34" charset="0"/>
              </a:rPr>
              <a:t>Data Warehouse Architectures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Source Sans Pro"/>
                <a:cs typeface="Arial" pitchFamily="34" charset="0"/>
              </a:rPr>
              <a:t>There are mainly three types of </a:t>
            </a:r>
            <a:r>
              <a:rPr kumimoji="0" lang="en-US" sz="2000" b="0" i="0" u="none" strike="noStrike" cap="none" normalizeH="0" baseline="0" dirty="0" err="1" smtClean="0">
                <a:ln>
                  <a:noFill/>
                </a:ln>
                <a:solidFill>
                  <a:srgbClr val="222222"/>
                </a:solidFill>
                <a:effectLst/>
                <a:latin typeface="Source Sans Pro"/>
                <a:cs typeface="Arial" pitchFamily="34" charset="0"/>
              </a:rPr>
              <a:t>Datawarehouse</a:t>
            </a:r>
            <a:r>
              <a:rPr kumimoji="0" lang="en-US" sz="2000" b="0" i="0" u="none" strike="noStrike" cap="none" normalizeH="0" baseline="0" dirty="0" smtClean="0">
                <a:ln>
                  <a:noFill/>
                </a:ln>
                <a:solidFill>
                  <a:srgbClr val="222222"/>
                </a:solidFill>
                <a:effectLst/>
                <a:latin typeface="Source Sans Pro"/>
                <a:cs typeface="Arial" pitchFamily="34" charset="0"/>
              </a:rPr>
              <a:t> Architectures: -</a:t>
            </a:r>
            <a:endParaRPr kumimoji="0" lang="en-US" sz="11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rgbClr val="222222"/>
                </a:solidFill>
                <a:effectLst/>
                <a:latin typeface="Source Sans Pro"/>
                <a:cs typeface="Arial" pitchFamily="34" charset="0"/>
              </a:rPr>
              <a:t>Single-tier architecture</a:t>
            </a:r>
            <a:endParaRPr kumimoji="0" lang="en-US" sz="11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Source Sans Pro"/>
                <a:cs typeface="Arial" pitchFamily="34" charset="0"/>
              </a:rPr>
              <a:t>The objective of a single layer is to minimize the amount of data stored. This goal is to remove data redundancy. This architecture is not frequently used in practice.</a:t>
            </a:r>
            <a:endParaRPr kumimoji="0" lang="en-US" sz="11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rgbClr val="222222"/>
                </a:solidFill>
                <a:effectLst/>
                <a:latin typeface="Source Sans Pro"/>
                <a:cs typeface="Arial" pitchFamily="34" charset="0"/>
              </a:rPr>
              <a:t>Two-tier architecture</a:t>
            </a:r>
            <a:endParaRPr kumimoji="0" lang="en-US" sz="11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Source Sans Pro"/>
                <a:cs typeface="Arial" pitchFamily="34" charset="0"/>
              </a:rPr>
              <a:t>Two-layer architecture separates physically available sources and data warehouse. This architecture is not expandable and also not supporting a large number of end-users. It also has connectivity problems because of network limitations.</a:t>
            </a:r>
            <a:endParaRPr kumimoji="0" lang="en-US" sz="11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rgbClr val="222222"/>
                </a:solidFill>
                <a:effectLst/>
                <a:latin typeface="Source Sans Pro"/>
                <a:cs typeface="Arial" pitchFamily="34" charset="0"/>
              </a:rPr>
              <a:t>Three-tier architecture</a:t>
            </a:r>
            <a:endParaRPr kumimoji="0" lang="en-US" sz="11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Source Sans Pro"/>
                <a:cs typeface="Arial" pitchFamily="34" charset="0"/>
              </a:rPr>
              <a:t>This is the most widely used architecture.</a:t>
            </a:r>
            <a:endParaRPr kumimoji="0" lang="en-US" sz="11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latin typeface="Source Sans Pro"/>
                <a:cs typeface="Arial" pitchFamily="34" charset="0"/>
              </a:rPr>
              <a:t>It consists of the Top, Middle and Bottom Tier.</a:t>
            </a:r>
            <a:endParaRPr kumimoji="0" lang="en-US" sz="11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sz="2000" b="1" i="0" u="none" strike="noStrike" cap="none" normalizeH="0" baseline="0" dirty="0" smtClean="0">
                <a:ln>
                  <a:noFill/>
                </a:ln>
                <a:solidFill>
                  <a:srgbClr val="222222"/>
                </a:solidFill>
                <a:effectLst/>
                <a:latin typeface="Source Sans Pro"/>
                <a:cs typeface="Arial" pitchFamily="34" charset="0"/>
              </a:rPr>
              <a:t>Bottom Tier:</a:t>
            </a:r>
            <a:r>
              <a:rPr kumimoji="0" lang="en-US" sz="2000" b="0" i="0" u="none" strike="noStrike" cap="none" normalizeH="0" baseline="0" dirty="0" smtClean="0">
                <a:ln>
                  <a:noFill/>
                </a:ln>
                <a:solidFill>
                  <a:srgbClr val="222222"/>
                </a:solidFill>
                <a:effectLst/>
                <a:latin typeface="Source Sans Pro"/>
                <a:cs typeface="Arial" pitchFamily="34" charset="0"/>
              </a:rPr>
              <a:t> The database of the </a:t>
            </a:r>
            <a:r>
              <a:rPr kumimoji="0" lang="en-US" sz="2000" b="0" i="0" u="none" strike="noStrike" cap="none" normalizeH="0" baseline="0" dirty="0" err="1" smtClean="0">
                <a:ln>
                  <a:noFill/>
                </a:ln>
                <a:solidFill>
                  <a:srgbClr val="222222"/>
                </a:solidFill>
                <a:effectLst/>
                <a:latin typeface="Source Sans Pro"/>
                <a:cs typeface="Arial" pitchFamily="34" charset="0"/>
              </a:rPr>
              <a:t>Datawarehouse</a:t>
            </a:r>
            <a:r>
              <a:rPr kumimoji="0" lang="en-US" sz="2000" b="0" i="0" u="none" strike="noStrike" cap="none" normalizeH="0" baseline="0" dirty="0" smtClean="0">
                <a:ln>
                  <a:noFill/>
                </a:ln>
                <a:solidFill>
                  <a:srgbClr val="222222"/>
                </a:solidFill>
                <a:effectLst/>
                <a:latin typeface="Source Sans Pro"/>
                <a:cs typeface="Arial" pitchFamily="34" charset="0"/>
              </a:rPr>
              <a:t> servers as the bottom tier. It is usually a relational database system. Data is cleansed, transformed, and loaded into this layer using back-end tools.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sz="2000" b="1" i="0" u="none" strike="noStrike" cap="none" normalizeH="0" baseline="0" dirty="0" smtClean="0">
                <a:ln>
                  <a:noFill/>
                </a:ln>
                <a:solidFill>
                  <a:srgbClr val="222222"/>
                </a:solidFill>
                <a:effectLst/>
                <a:latin typeface="Source Sans Pro"/>
                <a:cs typeface="Arial" pitchFamily="34" charset="0"/>
              </a:rPr>
              <a:t>Middle Tier: </a:t>
            </a:r>
            <a:r>
              <a:rPr kumimoji="0" lang="en-US" sz="2000" b="0" i="0" u="none" strike="noStrike" cap="none" normalizeH="0" baseline="0" dirty="0" smtClean="0">
                <a:ln>
                  <a:noFill/>
                </a:ln>
                <a:solidFill>
                  <a:srgbClr val="222222"/>
                </a:solidFill>
                <a:effectLst/>
                <a:latin typeface="Source Sans Pro"/>
                <a:cs typeface="Arial" pitchFamily="34" charset="0"/>
              </a:rPr>
              <a:t>The middle tier in Data warehouse is an OLAP server which is implemented using either ROLAP or MOLAP model. For a user, this application tier presents an abstracted view of the database. This layer also acts as a mediator between the end-user and the database.</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sz="2000" b="1" i="0" u="none" strike="noStrike" cap="none" normalizeH="0" baseline="0" dirty="0" smtClean="0">
                <a:ln>
                  <a:noFill/>
                </a:ln>
                <a:solidFill>
                  <a:srgbClr val="222222"/>
                </a:solidFill>
                <a:effectLst/>
                <a:latin typeface="Source Sans Pro"/>
                <a:cs typeface="Arial" pitchFamily="34" charset="0"/>
              </a:rPr>
              <a:t>Top-Tier: </a:t>
            </a:r>
            <a:r>
              <a:rPr kumimoji="0" lang="en-US" sz="2000" b="0" i="0" u="none" strike="noStrike" cap="none" normalizeH="0" baseline="0" dirty="0" smtClean="0">
                <a:ln>
                  <a:noFill/>
                </a:ln>
                <a:solidFill>
                  <a:srgbClr val="222222"/>
                </a:solidFill>
                <a:effectLst/>
                <a:latin typeface="Source Sans Pro"/>
                <a:cs typeface="Arial" pitchFamily="34" charset="0"/>
              </a:rPr>
              <a:t>The top tier is a front-end client layer. Top tier is the tools and API that you connect and get data out from the data warehouse. It could be Query tools, reporting tools, managed query tools, Analysis tools and Data mining tools.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57166"/>
            <a:ext cx="9144000" cy="4801314"/>
          </a:xfrm>
          <a:prstGeom prst="rect">
            <a:avLst/>
          </a:prstGeom>
        </p:spPr>
        <p:txBody>
          <a:bodyPr wrap="square">
            <a:spAutoFit/>
          </a:bodyPr>
          <a:lstStyle/>
          <a:p>
            <a:r>
              <a:rPr lang="en-US" dirty="0"/>
              <a:t>Data warehouse is an information system that contains historical and commutative data from single or multiple sources.</a:t>
            </a:r>
          </a:p>
          <a:p>
            <a:r>
              <a:rPr lang="en-US" dirty="0"/>
              <a:t>A data warehouse is subject oriented as it offers information regarding subject instead of organization's ongoing operations.</a:t>
            </a:r>
          </a:p>
          <a:p>
            <a:r>
              <a:rPr lang="en-US" dirty="0"/>
              <a:t>In Data Warehouse, integration means the establishment of a common unit of measure for all similar data from the different databases</a:t>
            </a:r>
          </a:p>
          <a:p>
            <a:r>
              <a:rPr lang="en-US" dirty="0"/>
              <a:t>Data warehouse is also non-volatile means the previous data is not erased when new data is entered in it.</a:t>
            </a:r>
          </a:p>
          <a:p>
            <a:r>
              <a:rPr lang="en-US" dirty="0"/>
              <a:t>A </a:t>
            </a:r>
            <a:r>
              <a:rPr lang="en-US" dirty="0" err="1"/>
              <a:t>Datawarehouse</a:t>
            </a:r>
            <a:r>
              <a:rPr lang="en-US" dirty="0"/>
              <a:t> is Time-variant as the data in a DW has high shelf life.</a:t>
            </a:r>
          </a:p>
          <a:p>
            <a:r>
              <a:rPr lang="en-US" dirty="0"/>
              <a:t>There are 5 main components of a </a:t>
            </a:r>
            <a:r>
              <a:rPr lang="en-US" dirty="0" err="1"/>
              <a:t>Datawarehouse</a:t>
            </a:r>
            <a:r>
              <a:rPr lang="en-US" dirty="0"/>
              <a:t>. 1) Database 2) ETL Tools 3) Meta Data 4) Query Tools 5) </a:t>
            </a:r>
            <a:r>
              <a:rPr lang="en-US" dirty="0" err="1"/>
              <a:t>DataMarts</a:t>
            </a:r>
            <a:endParaRPr lang="en-US" dirty="0"/>
          </a:p>
          <a:p>
            <a:r>
              <a:rPr lang="en-US" dirty="0"/>
              <a:t>These are four main categories of query tools 1. Query and reporting, tools 2. Application Development tools, 3. Data mining tools 4. OLAP tools</a:t>
            </a:r>
          </a:p>
          <a:p>
            <a:r>
              <a:rPr lang="en-US" dirty="0"/>
              <a:t>The data sourcing, transformation, and migration tools are used for performing all the conversions and summarizations.</a:t>
            </a:r>
          </a:p>
          <a:p>
            <a:r>
              <a:rPr lang="en-US" dirty="0"/>
              <a:t>In the Data Warehouse Architecture, meta-data plays an important role as it specifies the source, usage, values, and features of data warehouse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TotalTime>
  <Words>879</Words>
  <Application>Microsoft Office PowerPoint</Application>
  <PresentationFormat>On-screen Show (4:3)</PresentationFormat>
  <Paragraphs>65</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DATA WAREHOUSE</vt:lpstr>
      <vt:lpstr>Slide 2</vt:lpstr>
      <vt:lpstr>Slide 3</vt:lpstr>
      <vt:lpstr>Slide 4</vt:lpstr>
      <vt:lpstr>Slide 5</vt:lpstr>
      <vt:lpstr>Slide 6</vt:lpstr>
      <vt:lpstr>Slide 7</vt:lpstr>
      <vt:lpstr>Slide 8</vt:lpstr>
      <vt:lpstr>Slide 9</vt:lpstr>
      <vt:lpstr>Slide 10</vt:lpstr>
      <vt:lpstr>Slide 11</vt:lpstr>
      <vt:lpstr>Slide 12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WAREHOUSE</dc:title>
  <dc:creator>HP</dc:creator>
  <cp:lastModifiedBy>HP</cp:lastModifiedBy>
  <cp:revision>5</cp:revision>
  <dcterms:created xsi:type="dcterms:W3CDTF">2020-03-12T18:48:32Z</dcterms:created>
  <dcterms:modified xsi:type="dcterms:W3CDTF">2020-03-13T04:06:13Z</dcterms:modified>
</cp:coreProperties>
</file>